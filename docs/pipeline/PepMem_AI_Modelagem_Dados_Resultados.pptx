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9728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200" b="1">
                <a:solidFill>
                  <a:srgbClr val="A69FFD"/>
                </a:solidFill>
                <a:latin typeface="Calibri"/>
              </a:rPr>
              <a:t>INOVAI LAB  ·  LANCE  ·  IMD/UFRN</a:t>
            </a:r>
          </a:p>
          <a:p>
            <a:pPr algn="l">
              <a:spcAft>
                <a:spcPts val="1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PepMem-AI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Dados, modelagem e resultados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Priorização in silico de peptídeos escorpiônicos</a:t>
            </a:r>
          </a:p>
          <a:p>
            <a:pPr algn="l">
              <a:spcAft>
                <a:spcPts val="1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antes da validação experimental in vitro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A69FFD"/>
                </a:solidFill>
                <a:latin typeface="Calibri"/>
              </a:rPr>
              <a:t>PoC computacional — baseline RF + multimodal RF/ESM-2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858DFD"/>
                </a:solidFill>
                <a:latin typeface="Calibri"/>
              </a:rPr>
              <a:t>Métricas: data/processed/models/</a:t>
            </a:r>
          </a:p>
        </p:txBody>
      </p:sp>
      <p:pic>
        <p:nvPicPr>
          <p:cNvPr id="4" name="Picture 3" descr="logo_inovai_on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89320"/>
            <a:ext cx="4768427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2/19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1.  Problema e pergunta do modelo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2.  Dados: fontes, volume e rótulo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3.  Descritores: carga, hidrofobicidade e μH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4.  PMI: fórmula e origem (in silico)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5.  Features: baseline e multimodal (ESM-2)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6.  Modelagem: RF, LOPO e calibração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7.  Resultados (baseline e multimodal)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8.  Uso: dashboard, API e deploy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9.  Limitações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3/19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25880"/>
            <a:ext cx="11155680" cy="137160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3736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Peptídeos de Tityus stigmurus (Stigmurin e análogos) interagem com membranas diversas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(Gram+/Gram−, fungo, célula mamífera). Testar todos os pares in vitro é caro.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26080"/>
            <a:ext cx="6583680" cy="256032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Pergunta operacional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63093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Dado peptídeo + membrana-alvo,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qual a chance de alta atividade?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Rótulo: MIC ≤ 3,4 µM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926080"/>
            <a:ext cx="4343400" cy="256032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01752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Papel do PoC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337560"/>
            <a:ext cx="4069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Priorizar candidatos.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Não substitui MIC,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hemólise nem clínica.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De onde veio o desenho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4/19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25880"/>
            <a:ext cx="5486400" cy="201168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17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Pipeline InovAI (Nível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3736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Baselines: RF, XGBoost, SVM, logreg.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Com poucos dados: classificador +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encoder congelado; PMI + SHAP.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5486400" cy="201168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PoC implementado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RF (baseline e multimodal).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ESM-2 t6_8M como embedding.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SHAP TreeExplainer no dashboard.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325880"/>
            <a:ext cx="5349240" cy="425196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1732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Proposta CNPq (horizonte)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37360"/>
            <a:ext cx="50749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Deep learning multimodal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(MLP / Transformers).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Meta de médio/longo prazo;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não é o modelo em produção no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Dados — fontes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5/19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17320"/>
            <a:ext cx="2926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C2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554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C23A3"/>
                </a:solidFill>
                <a:latin typeface="Calibri"/>
              </a:rPr>
              <a:t>Literatura · Parente / Amorim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417320"/>
            <a:ext cx="2926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C2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554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C23A3"/>
                </a:solidFill>
                <a:latin typeface="Calibri"/>
              </a:rPr>
              <a:t>Bancada · mic_bench.csv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417320"/>
            <a:ext cx="2926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C2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5544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C23A3"/>
                </a:solidFill>
                <a:latin typeface="Calibri"/>
              </a:rPr>
              <a:t>OPM / APD · (bases públicas)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834640"/>
            <a:ext cx="4754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97180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AB40"/>
                </a:solidFill>
                <a:latin typeface="Calibri"/>
              </a:rPr>
              <a:t>Pares peptídeo × alvo + PMI + MIC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Bancada sobrescreve literatura no mesmo par (import_bench_mic.py).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Distribuição atual dos MICs: 78 bancada + 12 literature = 90.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Alvos com MIC: 18 membranas distintas.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Dados — volume e rótulo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6/19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71600"/>
            <a:ext cx="5394960" cy="292608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Conjunto de treino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83080"/>
            <a:ext cx="5120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90 pares com MIC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10 peptídeos distintos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Taxa positiva: 44,4%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394960" cy="292608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Rótulo binário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83080"/>
            <a:ext cx="5120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y = 1  se MIC ≤ 3,4 µM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y = 0  caso contrário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Limiar operacional do projeto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(valores ativos em Parente 2022).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78909C"/>
                </a:solidFill>
                <a:latin typeface="Calibri"/>
              </a:rPr>
              <a:t>Mediana dos MICs ≈ 4,7 µM — o corte 3,4 µM não é a mediana.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Descritores do peptídeo — da sequência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7/19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80160"/>
            <a:ext cx="5486400" cy="214884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Carga líquida q (pH ~7)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Soma dos resíduos ionizáveis: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K, R = +1;  H = +0,1;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D, E = −1;  demais = 0.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Se houver net_charge anotada, ela prevalece.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440680" cy="214884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37160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Hidrofobicidade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9164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Média Kyte–Doolittle por resíduo: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h = (1/L) · Σ H(AA_i)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Ex.: I=4,5; L=3,8; K=−3,9; R=−4,5.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11880"/>
            <a:ext cx="5486400" cy="210312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Momento hidrofóbico μH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Eisenberg (hélice α, ângulo 100°).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Mede anfifilicidade (faces hidro‑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fóbica / hidrofílica na hélice).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11880"/>
            <a:ext cx="5440680" cy="210312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70332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Importante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023360"/>
            <a:ext cx="5166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Tudo é in silico a partir da sequência.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Não é medido na bancada.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Código: peptide_utils.py / pmi.py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Membrana e PMI — como se obtém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8/19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80160"/>
            <a:ext cx="5486400" cy="438912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Descritores da membrana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5212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Tabela membrane_targets: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q_m (carga superficial)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Fração aniônica, LPS, peptidoglicano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• Colesterol, ergosterol, envelope viral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Tipologia OPM + regras do projeto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(Gram+/Gram−/fungo/célula normal…).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h_m na inferência: proxy fixo 0,5.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440680" cy="228600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37160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PMI (não é ensaio)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91640"/>
            <a:ext cx="5166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PMI = α·q_p|q_m| + β·h_p h_m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    + γ·μH_p − δ·col_m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α=1; β=0,5; γ=0,3; δ=0,4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(pesos fixos, não aprendidos no RF).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440680" cy="192024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840479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Bancada vs PMI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60519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Bancada / literatura: MIC (rótulo).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PMI: índice calculado do par.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PMI_sel = PMI_alvo − PMI_normal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(só no ranking, não no RF).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Features — baseline (11) e multimodal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9/19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80160"/>
            <a:ext cx="5486400" cy="228600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Baseline — 11 clássicas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Peptídeo: q, h, μH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Membrana: carga, aniônica, colesterol,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LPS, peptidoglicano, ergosterol, viral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+ PMI  ·  Deploy Cloud (sem PyTorch).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440680" cy="228600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37160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Multimodal — + ESM-2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91640"/>
            <a:ext cx="5166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facebook/esm2_t6_8M_UR50D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mean-pool ~320d ⇒ ≈331 features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HF Space / local com torch.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94760"/>
            <a:ext cx="5486400" cy="182880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Por que t6 8M?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Só precisa da sequência; cabe em CPU;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complementa o PMI sem estrutura 3D.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94760"/>
            <a:ext cx="5440680" cy="182880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88620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SHAP (baseline)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06240"/>
            <a:ext cx="5166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Top: q_p, PMI, carga da membrana.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Multimodal: ESM agregado domina;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PMI ≈ 0 no ranking global.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Pipeline de modelagem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10/19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54480"/>
            <a:ext cx="1508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3C2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Pares MIC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1554480"/>
            <a:ext cx="1508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3C2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17373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1554480"/>
            <a:ext cx="1508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17373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AB40"/>
                </a:solidFill>
                <a:latin typeface="Calibri"/>
              </a:rPr>
              <a:t>LOO (ref.)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49240" y="1554480"/>
            <a:ext cx="1508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7373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097A7"/>
                </a:solidFill>
                <a:latin typeface="Calibri"/>
              </a:rPr>
              <a:t>LOPO (princ.)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1554480"/>
            <a:ext cx="1508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17373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4285F4"/>
                </a:solidFill>
                <a:latin typeface="Calibri"/>
              </a:rPr>
              <a:t>Isotônica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554480"/>
            <a:ext cx="1508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17373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AB40"/>
                </a:solidFill>
                <a:latin typeface="Calibri"/>
              </a:rPr>
              <a:t>RF final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87000" y="1554480"/>
            <a:ext cx="1508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3C2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173736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Artefatos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926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Pipeline: StandardScaler → RandomForestClassifier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Baseline: 200 árvores; multimodal: 300 árvores, max_depth=6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class_weight='balanced'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Validação: LOO vs LOPO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11/19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71600"/>
            <a:ext cx="5394960" cy="320040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LOO (por amostra)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83080"/>
            <a:ext cx="5120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Tira 1 par por vez.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O mesmo peptídeo pode ficar no treino (outro alvo).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AUC mais otimista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(vazamento por homologia).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394960" cy="320040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LOPO (por peptídeo)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83080"/>
            <a:ext cx="5120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Tira todo o peptídeo.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Generalização para sequência nunca vista.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Métrica principal +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probs OOF para calibração.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Família Stigmurin: análogos ~94% idênticos ⇒ LOPO é essencial.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Calibração isotônica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12/19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3716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RF ordena bem, mas predict_proba é voto do ensemble, não frequência real.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Com ~90 MICs, probs brutas tendem a polarizar (0/1).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IsotonicRegression nas probs OOF do LOPO → p_calibrada.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Preserva a ordem dos candidatos; alinha % do dashboard ao LOPO.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97680"/>
            <a:ext cx="11155680" cy="137160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Inferência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p_bruta = RF.predict_proba  →  p_calibrada = calibrator.predict([p_bruta])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Resultados — Baseline RF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13/19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48132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LOPO AUC</a:t>
            </a:r>
          </a:p>
          <a:p>
            <a:pPr algn="ctr">
              <a:spcAft>
                <a:spcPts val="400"/>
              </a:spcAft>
            </a:pPr>
            <a:r>
              <a:rPr sz="3200" b="1">
                <a:solidFill>
                  <a:srgbClr val="0097A7"/>
                </a:solidFill>
                <a:latin typeface="Calibri"/>
              </a:rPr>
              <a:t>0,88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métrica principal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8132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LOO AUC</a:t>
            </a:r>
          </a:p>
          <a:p>
            <a:pPr algn="ctr">
              <a:spcAft>
                <a:spcPts val="400"/>
              </a:spcAft>
            </a:pPr>
            <a:r>
              <a:rPr sz="3200" b="1">
                <a:solidFill>
                  <a:srgbClr val="3C23A3"/>
                </a:solidFill>
                <a:latin typeface="Calibri"/>
              </a:rPr>
              <a:t>0,88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referência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371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39" y="148132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Acurácia LOPO</a:t>
            </a:r>
          </a:p>
          <a:p>
            <a:pPr algn="ctr">
              <a:spcAft>
                <a:spcPts val="400"/>
              </a:spcAft>
            </a:pPr>
            <a:r>
              <a:rPr sz="3200" b="1">
                <a:solidFill>
                  <a:srgbClr val="4285F4"/>
                </a:solidFill>
                <a:latin typeface="Calibri"/>
              </a:rPr>
              <a:t>0,74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40 positivos / 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Modelo: 11 features clássicas + PMI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Deploy: Streamlit Cloud (sem PyTorch)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Calibração: isotônica sobre OOF LOPO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LOO acc. 0,83 · F1+ (LOPO) 0,73 · Precision+ 0,69 · Recall+ 0,78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Resultados — Multimodal RF + ESM-2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14/19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371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48132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LOPO AUC</a:t>
            </a:r>
          </a:p>
          <a:p>
            <a:pPr algn="ctr">
              <a:spcAft>
                <a:spcPts val="400"/>
              </a:spcAft>
            </a:pPr>
            <a:r>
              <a:rPr sz="3200" b="1">
                <a:solidFill>
                  <a:srgbClr val="FFAB40"/>
                </a:solidFill>
                <a:latin typeface="Calibri"/>
              </a:rPr>
              <a:t>0,81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métrica principal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8132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LOO AUC</a:t>
            </a:r>
          </a:p>
          <a:p>
            <a:pPr algn="ctr">
              <a:spcAft>
                <a:spcPts val="400"/>
              </a:spcAft>
            </a:pPr>
            <a:r>
              <a:rPr sz="3200" b="1">
                <a:solidFill>
                  <a:srgbClr val="3C23A3"/>
                </a:solidFill>
                <a:latin typeface="Calibri"/>
              </a:rPr>
              <a:t>0,85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referência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371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39" y="1481328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Features</a:t>
            </a:r>
          </a:p>
          <a:p>
            <a:pPr algn="ctr">
              <a:spcAft>
                <a:spcPts val="400"/>
              </a:spcAft>
            </a:pPr>
            <a:r>
              <a:rPr sz="3200" b="1">
                <a:solidFill>
                  <a:srgbClr val="4285F4"/>
                </a:solidFill>
                <a:latin typeface="Calibri"/>
              </a:rPr>
              <a:t>331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78909C"/>
                </a:solidFill>
                <a:latin typeface="Calibri"/>
              </a:rPr>
              <a:t>11 + ESM-2 320d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004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Embedding captura similaridade de sequência; no LOPO generaliza um pouco pior nesta família pequena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Acurácia LOPO 0,69 · Precision+ 0,60 · Recall+ 0,90 · F1+ 0,72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Deploy: Hugging Face Space / local com requirements-space.txt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AUC LOPO por peptídeo (baseline)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15/19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46304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3C23A3"/>
                </a:solidFill>
                <a:latin typeface="Calibri"/>
              </a:rPr>
              <a:t>ID      AUC          ID      AUC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P11     0,90         P15     0,83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P12     0,95         P16     0,95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P13     0,88         P17     0,80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P14     0,88         P18     0,67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▸  P05 e P10: AUC por peptídeo indefinida (uma só classe no fold)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▸  Variabilidade entre análogos — amostra ainda limitada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Explicabilidade e produto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16/19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25880"/>
            <a:ext cx="5394960" cy="201168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SHAP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3736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TreeExplainer no RF.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Beeswarm global + local.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Dims ESM agregadas no gráfico.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5394960" cy="201168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Predição única / lote FASTA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Ranking multi-alvo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Relatórios MD/DOCX/PDF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25880"/>
            <a:ext cx="5394960" cy="201168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Onde roda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3736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Cloud: baseline leve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Space HF: multimodal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API FastAPI (opcional)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66160"/>
            <a:ext cx="5394960" cy="2011680"/>
          </a:xfrm>
          <a:prstGeom prst="roundRect">
            <a:avLst/>
          </a:prstGeom>
          <a:solidFill>
            <a:srgbClr val="F7F6FC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23A3"/>
                </a:solidFill>
                <a:latin typeface="Calibri"/>
              </a:rPr>
              <a:t>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7764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docs/TREINO.md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docs/INTERPRETACAO_RESULTADOS.md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Limitações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17/19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Poucos peptídeos distintos (~10 com MIC) — LOPO ajuda, mas amostra é pequena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Limiar 3,4 µM é escolha de projeto, não padrão CLSI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Hemólise existe nos pares, mas o RF classifica atividade MIC, não toxicidade direta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Multimodal ainda é RF+ESM, não o encoder multimodal completo da proposta CNPq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▸  Predição prioriza ensaio; não substitui bancada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78909C"/>
                </a:solidFill>
                <a:latin typeface="Calibri"/>
              </a:rPr>
              <a:t>INOVAI LAB  ·  UFRN  ·  TITYUS STIGMURUS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3C23A3"/>
                </a:solidFill>
                <a:latin typeface="Calibri"/>
              </a:rPr>
              <a:t>Mensagens-chave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914400" cy="54864"/>
          </a:xfrm>
          <a:prstGeom prst="rect">
            <a:avLst/>
          </a:prstGeom>
          <a:solidFill>
            <a:srgbClr val="3C2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1051560"/>
            <a:ext cx="320040" cy="54864"/>
          </a:xfrm>
          <a:prstGeom prst="rect">
            <a:avLst/>
          </a:prstGeom>
          <a:solidFill>
            <a:srgbClr val="858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051560"/>
            <a:ext cx="20116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inov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46520"/>
            <a:ext cx="983953" cy="320040"/>
          </a:xfrm>
          <a:prstGeom prst="rect">
            <a:avLst/>
          </a:prstGeom>
        </p:spPr>
      </p:pic>
      <p:pic>
        <p:nvPicPr>
          <p:cNvPr id="10" name="Picture 9" descr="logo_uf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46520"/>
            <a:ext cx="824906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6446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C23A3"/>
                </a:solidFill>
                <a:latin typeface="Calibri"/>
              </a:rPr>
              <a:t>PepMem-AI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8909C"/>
                </a:solidFill>
                <a:latin typeface="Calibri"/>
              </a:rPr>
              <a:t>18/19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1.  Dados: 90 MICs (bancada + literatura), rótulo MIC ≤ 3,4 µM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2.  Descritores: q, h, μH da sequência; membrana tipificada; PMI calculado (não ensaiado)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3.  Modelo: Random Forest (Nível 1 InovAI) + PMI; ESM-2 no multimodal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4.  Validação: LOPO é a métrica honesta; isotônica calibra o dashboard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5.  Resultado: baseline LOPO AUC ≈ 0,88; multimodal LOPO AUC ≈ 0,81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6.  Uso: priorizar candidatos Stigmurin/análogos antes do in vitro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ha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64592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INOVAI LAB  ·  UFRN</a:t>
            </a:r>
          </a:p>
          <a:p>
            <a:pPr algn="ctr">
              <a:spcAft>
                <a:spcPts val="1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Obrigado</a:t>
            </a:r>
          </a:p>
          <a:p>
            <a:pPr algn="ctr">
              <a:spcAft>
                <a:spcPts val="22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Perguntas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Código: github.com/gbmotta/PepMem-AI</a:t>
            </a:r>
          </a:p>
          <a:p>
            <a:pPr algn="ctr">
              <a:spcAft>
                <a:spcPts val="0"/>
              </a:spcAft>
            </a:pPr>
            <a:r>
              <a:rPr sz="1200" b="0">
                <a:solidFill>
                  <a:srgbClr val="A69FFD"/>
                </a:solidFill>
                <a:latin typeface="Calibri"/>
              </a:rPr>
              <a:t>Artefatos: baseline_mic_loo.json · multimodal_mic_loo.json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7639" y="5349240"/>
            <a:ext cx="4206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s_inovai_uf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468112"/>
            <a:ext cx="3915383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